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176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26346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98114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86974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28149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1508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5140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6645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92922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08064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2119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77800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824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dirty="0"/>
              <a:t>Japan Demographic Structural Decline Analysis (1899–2023)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9359" y="2794331"/>
            <a:ext cx="7039606" cy="1003427"/>
          </a:xfrm>
        </p:spPr>
        <p:txBody>
          <a:bodyPr/>
          <a:lstStyle/>
          <a:p>
            <a:r>
              <a:rPr dirty="0"/>
              <a:t>PostgreSQL Multi-Layer Data Pipeline + Power BI Dashboard</a:t>
            </a:r>
            <a:endParaRPr lang="es-MX" dirty="0"/>
          </a:p>
          <a:p>
            <a:r>
              <a:rPr lang="es-CR" dirty="0"/>
              <a:t>Focus:  Time-Series </a:t>
            </a:r>
            <a:r>
              <a:rPr lang="es-CR" dirty="0" err="1"/>
              <a:t>Analysis</a:t>
            </a:r>
            <a:r>
              <a:rPr lang="es-CR" dirty="0"/>
              <a:t> &amp; </a:t>
            </a:r>
            <a:r>
              <a:rPr lang="es-CR" dirty="0" err="1"/>
              <a:t>Demographic</a:t>
            </a:r>
            <a:r>
              <a:rPr lang="es-CR" dirty="0"/>
              <a:t> </a:t>
            </a:r>
            <a:r>
              <a:rPr lang="es-CR" dirty="0" err="1"/>
              <a:t>Trend</a:t>
            </a:r>
            <a:r>
              <a:rPr lang="es-CR" dirty="0"/>
              <a:t> </a:t>
            </a:r>
            <a:r>
              <a:rPr lang="es-CR" dirty="0" err="1"/>
              <a:t>Evaluation</a:t>
            </a:r>
            <a:endParaRPr lang="es-CR" dirty="0"/>
          </a:p>
          <a:p>
            <a:pPr marL="0" indent="0">
              <a:buNone/>
            </a:pPr>
            <a:endParaRPr lang="es-CR" dirty="0"/>
          </a:p>
          <a:p>
            <a:endParaRPr lang="es-CR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17E323B-0206-5E29-8FAD-F7A2343D2127}"/>
              </a:ext>
            </a:extLst>
          </p:cNvPr>
          <p:cNvSpPr txBox="1">
            <a:spLocks/>
          </p:cNvSpPr>
          <p:nvPr/>
        </p:nvSpPr>
        <p:spPr>
          <a:xfrm>
            <a:off x="-362139" y="5589404"/>
            <a:ext cx="5911913" cy="92815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6858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6858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6858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6858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6858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s-CR" sz="1900" dirty="0" err="1"/>
              <a:t>Author</a:t>
            </a:r>
            <a:r>
              <a:rPr lang="es-CR" sz="1900" dirty="0"/>
              <a:t>:  Austin </a:t>
            </a:r>
            <a:r>
              <a:rPr lang="es-CR" sz="1900" dirty="0" err="1"/>
              <a:t>Gölcher</a:t>
            </a:r>
            <a:r>
              <a:rPr lang="es-CR" sz="1900" dirty="0"/>
              <a:t> Palma</a:t>
            </a:r>
          </a:p>
          <a:p>
            <a:pPr marL="457200" lvl="1" indent="0">
              <a:buNone/>
            </a:pPr>
            <a:endParaRPr lang="es-CR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30035" y="2242070"/>
            <a:ext cx="6083929" cy="3450613"/>
          </a:xfrm>
        </p:spPr>
        <p:txBody>
          <a:bodyPr>
            <a:normAutofit/>
          </a:bodyPr>
          <a:lstStyle/>
          <a:p>
            <a:pPr lvl="1"/>
            <a:r>
              <a:rPr lang="en-US" sz="2000" dirty="0"/>
              <a:t>Design and implement a structured data pipeline (raw, staging, analytics)</a:t>
            </a:r>
          </a:p>
          <a:p>
            <a:pPr lvl="1"/>
            <a:r>
              <a:rPr lang="en-US" sz="2000" dirty="0"/>
              <a:t>Perform time-series analysis using SQL window functions.</a:t>
            </a:r>
            <a:endParaRPr sz="2000" dirty="0"/>
          </a:p>
          <a:p>
            <a:pPr lvl="1"/>
            <a:r>
              <a:rPr sz="2000" dirty="0"/>
              <a:t>Deliver BI-ready fact table for executive-level visualization.</a:t>
            </a:r>
          </a:p>
          <a:p>
            <a:pPr lvl="1"/>
            <a:r>
              <a:rPr sz="2000" dirty="0"/>
              <a:t>Identify structural demographic patterns in Japan.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Data Engineering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3491" y="2581570"/>
            <a:ext cx="6387757" cy="3450613"/>
          </a:xfrm>
        </p:spPr>
        <p:txBody>
          <a:bodyPr>
            <a:normAutofit/>
          </a:bodyPr>
          <a:lstStyle/>
          <a:p>
            <a:r>
              <a:rPr dirty="0"/>
              <a:t>Raw Layer: CSV </a:t>
            </a:r>
            <a:r>
              <a:rPr dirty="0" err="1"/>
              <a:t>ingesti</a:t>
            </a:r>
            <a:r>
              <a:rPr lang="es-CR" dirty="0" err="1"/>
              <a:t>ó</a:t>
            </a:r>
            <a:r>
              <a:rPr dirty="0"/>
              <a:t>n</a:t>
            </a:r>
            <a:r>
              <a:rPr lang="es-MX" dirty="0"/>
              <a:t>,</a:t>
            </a:r>
            <a:r>
              <a:rPr dirty="0"/>
              <a:t> text-only schema</a:t>
            </a:r>
            <a:endParaRPr lang="es-MX" dirty="0"/>
          </a:p>
          <a:p>
            <a:r>
              <a:rPr lang="en-US" dirty="0"/>
              <a:t>Staging Layer: Typed columns, null handling, validation rules</a:t>
            </a:r>
          </a:p>
          <a:p>
            <a:r>
              <a:rPr lang="en-US" dirty="0"/>
              <a:t>Analytics Layer: Fact table with derived metrics</a:t>
            </a:r>
          </a:p>
          <a:p>
            <a:r>
              <a:rPr lang="en-US" dirty="0"/>
              <a:t>Power BI consumes analytics layer only.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Validation &amp; Profiling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3491" y="2477460"/>
            <a:ext cx="6571343" cy="3450613"/>
          </a:xfrm>
        </p:spPr>
        <p:txBody>
          <a:bodyPr/>
          <a:lstStyle/>
          <a:p>
            <a:r>
              <a:rPr dirty="0"/>
              <a:t>122 historical records (1899–2023)</a:t>
            </a:r>
            <a:endParaRPr lang="es-MX" dirty="0"/>
          </a:p>
          <a:p>
            <a:r>
              <a:rPr dirty="0"/>
              <a:t>Primary key enforced on year</a:t>
            </a:r>
            <a:endParaRPr lang="es-MX" dirty="0"/>
          </a:p>
          <a:p>
            <a:r>
              <a:rPr dirty="0"/>
              <a:t>Detected structural nulls in fertility rate (historical absence of metric)</a:t>
            </a:r>
            <a:endParaRPr lang="es-MX" dirty="0"/>
          </a:p>
          <a:p>
            <a:r>
              <a:rPr dirty="0"/>
              <a:t>No duplicate years or corrupted records found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SQL Transformations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3491" y="2414085"/>
            <a:ext cx="6571343" cy="3450613"/>
          </a:xfrm>
        </p:spPr>
        <p:txBody>
          <a:bodyPr/>
          <a:lstStyle/>
          <a:p>
            <a:r>
              <a:rPr dirty="0"/>
              <a:t>Window functions (LAG) for yearly absolute and percentage change</a:t>
            </a:r>
            <a:endParaRPr lang="es-MX" dirty="0"/>
          </a:p>
          <a:p>
            <a:r>
              <a:rPr dirty="0"/>
              <a:t>Decade-level aggregation for structural trend analysis</a:t>
            </a:r>
            <a:endParaRPr lang="es-MX" dirty="0"/>
          </a:p>
          <a:p>
            <a:r>
              <a:rPr dirty="0"/>
              <a:t>Null handling using NULLIF during staging transformation</a:t>
            </a:r>
            <a:endParaRPr lang="es-MX" dirty="0"/>
          </a:p>
          <a:p>
            <a:r>
              <a:rPr dirty="0"/>
              <a:t>Creation of BI-</a:t>
            </a:r>
            <a:r>
              <a:rPr lang="es-MX" dirty="0"/>
              <a:t>o</a:t>
            </a:r>
            <a:r>
              <a:rPr dirty="0" err="1"/>
              <a:t>ptimized</a:t>
            </a:r>
            <a:r>
              <a:rPr dirty="0"/>
              <a:t> fact table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Executive Insights</a:t>
            </a:r>
            <a:r>
              <a:rPr lang="es-MX" dirty="0"/>
              <a:t> /</a:t>
            </a:r>
            <a:br>
              <a:rPr lang="es-MX" dirty="0"/>
            </a:br>
            <a:r>
              <a:rPr dirty="0"/>
              <a:t>Historical Trend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3491" y="2602867"/>
            <a:ext cx="6571343" cy="3450613"/>
          </a:xfrm>
        </p:spPr>
        <p:txBody>
          <a:bodyPr/>
          <a:lstStyle/>
          <a:p>
            <a:r>
              <a:rPr dirty="0"/>
              <a:t>Peak birth year: 1949 (post-war baby boom)</a:t>
            </a:r>
            <a:endParaRPr lang="es-MX" dirty="0"/>
          </a:p>
          <a:p>
            <a:r>
              <a:rPr dirty="0"/>
              <a:t>Latest recorded births: 727,</a:t>
            </a:r>
            <a:r>
              <a:rPr lang="es-MX" dirty="0"/>
              <a:t>3</a:t>
            </a:r>
            <a:r>
              <a:rPr dirty="0"/>
              <a:t>00</a:t>
            </a:r>
            <a:endParaRPr lang="es-MX" dirty="0"/>
          </a:p>
          <a:p>
            <a:r>
              <a:rPr dirty="0"/>
              <a:t>Total decline since peak: -73</a:t>
            </a:r>
            <a:r>
              <a:rPr lang="es-MX" dirty="0"/>
              <a:t>,03</a:t>
            </a:r>
            <a:r>
              <a:rPr dirty="0"/>
              <a:t>%</a:t>
            </a:r>
            <a:endParaRPr lang="es-MX" dirty="0"/>
          </a:p>
          <a:p>
            <a:r>
              <a:rPr dirty="0"/>
              <a:t>Clear long-term contraction pattern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Structural Decline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3490" y="2602867"/>
            <a:ext cx="6571343" cy="3450613"/>
          </a:xfrm>
        </p:spPr>
        <p:txBody>
          <a:bodyPr/>
          <a:lstStyle/>
          <a:p>
            <a:r>
              <a:rPr dirty="0"/>
              <a:t>Sharp volatility in the 1940s</a:t>
            </a:r>
            <a:r>
              <a:rPr lang="es-MX" dirty="0"/>
              <a:t> </a:t>
            </a:r>
            <a:r>
              <a:rPr dirty="0"/>
              <a:t>–</a:t>
            </a:r>
            <a:r>
              <a:rPr lang="es-MX" dirty="0"/>
              <a:t> </a:t>
            </a:r>
            <a:r>
              <a:rPr dirty="0"/>
              <a:t>1950s</a:t>
            </a:r>
            <a:endParaRPr lang="es-MX" dirty="0"/>
          </a:p>
          <a:p>
            <a:r>
              <a:rPr dirty="0"/>
              <a:t>Relative stabilization mid-century</a:t>
            </a:r>
            <a:endParaRPr lang="es-MX" dirty="0"/>
          </a:p>
          <a:p>
            <a:r>
              <a:rPr dirty="0"/>
              <a:t>Sustained structural decline beginning in the 1980s</a:t>
            </a:r>
            <a:endParaRPr lang="es-MX" dirty="0"/>
          </a:p>
          <a:p>
            <a:r>
              <a:rPr dirty="0"/>
              <a:t>Consistent fertility contraction over time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Fertility Rate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3491" y="2581571"/>
            <a:ext cx="6571343" cy="3450613"/>
          </a:xfrm>
        </p:spPr>
        <p:txBody>
          <a:bodyPr/>
          <a:lstStyle/>
          <a:p>
            <a:r>
              <a:rPr dirty="0"/>
              <a:t>Fertility metric unavailable in early decades (structural missing data)</a:t>
            </a:r>
            <a:endParaRPr lang="es-MX" dirty="0"/>
          </a:p>
          <a:p>
            <a:r>
              <a:rPr dirty="0"/>
              <a:t>Modern fertility rate: 1.20 (below replacement level)</a:t>
            </a:r>
            <a:endParaRPr lang="es-MX" dirty="0"/>
          </a:p>
          <a:p>
            <a:r>
              <a:rPr dirty="0"/>
              <a:t>Long-term demographic sustainability concerns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Technical Skills Demonstrated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3491" y="2619027"/>
            <a:ext cx="6571343" cy="3450613"/>
          </a:xfrm>
        </p:spPr>
        <p:txBody>
          <a:bodyPr/>
          <a:lstStyle/>
          <a:p>
            <a:r>
              <a:rPr dirty="0"/>
              <a:t>PostgreSQL schema design and ETL structuring</a:t>
            </a:r>
            <a:endParaRPr lang="es-MX" dirty="0"/>
          </a:p>
          <a:p>
            <a:r>
              <a:rPr dirty="0"/>
              <a:t>SQL window functions and time-series</a:t>
            </a:r>
            <a:r>
              <a:rPr lang="es-MX" dirty="0"/>
              <a:t> </a:t>
            </a:r>
            <a:r>
              <a:rPr lang="es-MX" dirty="0" err="1"/>
              <a:t>analysis</a:t>
            </a:r>
            <a:endParaRPr lang="es-MX" dirty="0"/>
          </a:p>
          <a:p>
            <a:r>
              <a:rPr dirty="0"/>
              <a:t>Data modeling and fact table construction</a:t>
            </a:r>
            <a:endParaRPr lang="es-MX" dirty="0"/>
          </a:p>
          <a:p>
            <a:r>
              <a:rPr dirty="0"/>
              <a:t>Power BI dashboard design and KPI development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Project</a:t>
            </a:r>
            <a:br>
              <a:rPr lang="es-MX" dirty="0"/>
            </a:br>
            <a:r>
              <a:rPr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3490" y="2602867"/>
            <a:ext cx="6571343" cy="3450613"/>
          </a:xfrm>
        </p:spPr>
        <p:txBody>
          <a:bodyPr/>
          <a:lstStyle/>
          <a:p>
            <a:r>
              <a:rPr dirty="0"/>
              <a:t>Separation of transformation and visualization layers</a:t>
            </a:r>
            <a:endParaRPr lang="es-MX" dirty="0"/>
          </a:p>
          <a:p>
            <a:r>
              <a:rPr dirty="0"/>
              <a:t>Historical demographic decline confirmed analytically</a:t>
            </a:r>
            <a:endParaRPr lang="es-MX" dirty="0"/>
          </a:p>
          <a:p>
            <a:r>
              <a:rPr dirty="0"/>
              <a:t>Project demonstrates production-oriented data workflow design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ería">
  <a:themeElements>
    <a:clrScheme name="Galería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ería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ería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13</TotalTime>
  <Words>312</Words>
  <PresentationFormat>Presentación en pantalla (4:3)</PresentationFormat>
  <Paragraphs>47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3" baseType="lpstr">
      <vt:lpstr>Arial</vt:lpstr>
      <vt:lpstr>Gill Sans MT</vt:lpstr>
      <vt:lpstr>Galería</vt:lpstr>
      <vt:lpstr>Japan Demographic Structural Decline Analysis (1899–2023)</vt:lpstr>
      <vt:lpstr>Project Objective</vt:lpstr>
      <vt:lpstr>Data Engineering Architecture</vt:lpstr>
      <vt:lpstr>Data Validation &amp; Profiling</vt:lpstr>
      <vt:lpstr>Key SQL Transformations</vt:lpstr>
      <vt:lpstr>Executive Insights / Historical Trend</vt:lpstr>
      <vt:lpstr>Structural Decline Pattern</vt:lpstr>
      <vt:lpstr>Fertility Rate Findings</vt:lpstr>
      <vt:lpstr>Technical Skills Demonstrated</vt:lpstr>
      <vt:lpstr>Project 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terms:created xsi:type="dcterms:W3CDTF">2013-01-27T09:14:16Z</dcterms:created>
  <dcterms:modified xsi:type="dcterms:W3CDTF">2026-02-27T03:48:00Z</dcterms:modified>
  <cp:category/>
</cp:coreProperties>
</file>